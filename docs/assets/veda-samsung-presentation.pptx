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3B002-ED8B-40A5-9F9B-DC31DE74F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0CB87C-4A9C-4C01-91C3-63886147E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2D8FD3-5A1C-47AA-9E26-7092E69E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13A58C-36ED-400A-8DB1-FE03C9FF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A5685-D085-4CBE-A262-22526F86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3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02D06-4661-4EF5-B9DF-F66361FE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8F12D-D16F-43F4-BADB-72745EB70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28E5B2-54D9-47E9-A1A3-DF359FB1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457D41-C8F3-4C27-AABE-1D1E8C39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8C7B2D-0261-488A-B53F-C7C55D4B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49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C7A05-F48E-40B1-ACC9-E9E40F9E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726FE8-A3A9-4E0B-B3C1-9AE5BA752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316555-4BA2-4A4F-814B-956B3DE5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5452A7-0A10-4DF6-A02D-0C760CD9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A9C241-462B-44C5-B699-03BC9A74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51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AE4D5-E7A3-4819-93E0-8303D686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A18FDE-08DE-4CE9-AE98-80FABA0DD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721CE4-DA4A-46E8-B5C6-F71B6368F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8C8F77-5C7D-4F53-A2D2-E811361B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32FA31-3D39-4989-9658-F5012333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6A853-511C-498C-BDDE-6B610894A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1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80551-2855-4C27-957F-EBD73DAAD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7A44EE-9922-4E9B-920F-471EEC7FB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C04FBC-9A11-42A8-A149-F487F1D32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94F638-9F8E-4C33-A1AE-C9CAA4FF3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A11C638-938F-49F9-B334-1B08105AA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1137F7-D3E6-4717-9232-A98E5880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489B8E9-2A68-4E72-B5A7-87919BC6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4E09A6-B8EA-4183-9D96-5FCD1FE3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0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ED45A-2E9C-48E0-9DD1-5F95F99B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56F974F-0C97-4D91-A203-19673509B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478247-5846-42F4-8843-3C674D0E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497027-3A5A-4882-B468-5D5497C3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44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0E1090C-43DC-4587-86FC-67844D87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6A88DA-4BF0-4B71-91F3-74DB7611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512701-AF6C-41B8-9FE4-13493D11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64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0A40B-F1C4-4C65-BEF9-905F4314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F57E25-F31E-4EF6-9E7B-3C8A811BE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7E06E2-5F5E-4E41-A26D-6918E6846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7C0E57-3423-483B-BAEE-F0AE2BB0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6AD0BE-FBDC-43B8-B563-0F4500DE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A3003D-FF50-4C19-AB58-7A3D9304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95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AC4F1-B100-4AEE-8F0E-622BFB177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0AB2AF-2376-4261-8631-A69CF2008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4AFB79-6955-45D1-BE8E-FFBE84DF2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AFEBD3-D344-4EC2-870E-01A5ABA2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F0C271-8F70-4421-B09F-20C99977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BB3439-F9D0-4CBE-82F6-53EB5208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61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082DE-918C-4B91-87AB-37A637FC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47DC0C-CA30-4CAD-9F67-A4ADD893C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9DEC10-345A-4BA9-848F-263CCABC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784F59-6A43-4870-A428-7E10544E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87CBF3-BE0D-494E-861F-4A6E94EC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43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DB2A07-E241-44F0-BB2D-B50CC8CB8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53F71B-95E2-404A-AF59-6A5426B26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CF09C-5B8A-4A4E-AD26-A120E13B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A3B0C6-D2E3-4F41-B94E-92433E6A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11AD3B-2860-40C2-A95B-59BECBB3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47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D5462-0C0A-4FBA-B11B-E92EB1E5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0AA58B-6675-4CE1-997F-FF5226922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8B3D13-A743-4BDE-8FC9-E630F7E50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B5A3C-A864-4E26-80B2-5A925F9C424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0B41C0-EA9F-43F2-BEB1-5AAC9544B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A13FDC-7568-4E23-8E81-10C3587C5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7468-1726-47BC-9107-45623D48F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93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0335B43-B511-44E4-B811-813D68C92D2D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E3014D4-C5F9-4924-B074-B09E19309098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D1153-9DB0-4E82-B121-547885371E4B}"/>
              </a:ext>
            </a:extLst>
          </p:cNvPr>
          <p:cNvSpPr txBox="1"/>
          <p:nvPr/>
        </p:nvSpPr>
        <p:spPr>
          <a:xfrm>
            <a:off x="990600" y="812800"/>
            <a:ext cx="6477000" cy="660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en-US" sz="4000" b="1">
                <a:solidFill>
                  <a:srgbClr val="1F242D"/>
                </a:solidFill>
                <a:latin typeface="Segoe UI" panose="020B0502040204020203" pitchFamily="34" charset="0"/>
              </a:rPr>
              <a:t>Veda</a:t>
            </a:r>
            <a:endParaRPr lang="ru-RU" sz="4000" b="1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6AA80-AF8D-4FE3-B196-2E8F7B47FB29}"/>
              </a:ext>
            </a:extLst>
          </p:cNvPr>
          <p:cNvSpPr txBox="1"/>
          <p:nvPr/>
        </p:nvSpPr>
        <p:spPr>
          <a:xfrm>
            <a:off x="1016000" y="1549400"/>
            <a:ext cx="7112000" cy="8128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400">
                <a:solidFill>
                  <a:srgbClr val="1F242D"/>
                </a:solidFill>
                <a:latin typeface="Segoe UI" panose="020B0502040204020203" pitchFamily="34" charset="0"/>
              </a:rPr>
              <a:t>Приложение для школьников на основе метода Zettelkasten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31585-4989-40B1-BB76-2EA2641AA650}"/>
              </a:ext>
            </a:extLst>
          </p:cNvPr>
          <p:cNvSpPr txBox="1"/>
          <p:nvPr/>
        </p:nvSpPr>
        <p:spPr>
          <a:xfrm>
            <a:off x="1016000" y="2565400"/>
            <a:ext cx="6604000" cy="4826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600" b="1">
                <a:solidFill>
                  <a:srgbClr val="44678C"/>
                </a:solidFill>
                <a:latin typeface="Segoe UI" panose="020B0502040204020203" pitchFamily="34" charset="0"/>
              </a:rPr>
              <a:t>От хаоса записей - к системе знаний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16ACC-F703-4A0E-AE20-17ADC042E397}"/>
              </a:ext>
            </a:extLst>
          </p:cNvPr>
          <p:cNvSpPr txBox="1"/>
          <p:nvPr/>
        </p:nvSpPr>
        <p:spPr>
          <a:xfrm>
            <a:off x="1016000" y="4953000"/>
            <a:ext cx="7366000" cy="1168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000" dirty="0">
                <a:solidFill>
                  <a:srgbClr val="6B757F"/>
                </a:solidFill>
                <a:latin typeface="Segoe UI" panose="020B0502040204020203" pitchFamily="34" charset="0"/>
              </a:rPr>
              <a:t>Сенокосов Тимофей</a:t>
            </a:r>
          </a:p>
          <a:p>
            <a:r>
              <a:rPr lang="ru-RU" sz="2000" dirty="0">
                <a:solidFill>
                  <a:srgbClr val="6B757F"/>
                </a:solidFill>
                <a:latin typeface="Segoe UI" panose="020B0502040204020203" pitchFamily="34" charset="0"/>
              </a:rPr>
              <a:t>10-3 МАОУ ИЛ НГТУ</a:t>
            </a:r>
          </a:p>
          <a:p>
            <a:r>
              <a:rPr lang="ru-RU" sz="2000" dirty="0">
                <a:solidFill>
                  <a:srgbClr val="6B757F"/>
                </a:solidFill>
                <a:latin typeface="Segoe UI" panose="020B0502040204020203" pitchFamily="34" charset="0"/>
              </a:rPr>
              <a:t>Руководитель: Муль Павел Фридрихович</a:t>
            </a:r>
          </a:p>
          <a:p>
            <a:r>
              <a:rPr lang="ru-RU" sz="2000" dirty="0">
                <a:solidFill>
                  <a:srgbClr val="6B757F"/>
                </a:solidFill>
                <a:latin typeface="Segoe UI" panose="020B0502040204020203" pitchFamily="34" charset="0"/>
              </a:rPr>
              <a:t>Новосибирск 2025/2026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E8F4C22-52FA-490F-B39D-8457E95BCC28}"/>
              </a:ext>
            </a:extLst>
          </p:cNvPr>
          <p:cNvCxnSpPr/>
          <p:nvPr/>
        </p:nvCxnSpPr>
        <p:spPr>
          <a:xfrm>
            <a:off x="1016000" y="3069409"/>
            <a:ext cx="6223000" cy="0"/>
          </a:xfrm>
          <a:prstGeom prst="line">
            <a:avLst/>
          </a:prstGeom>
          <a:ln w="1524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 descr="logo.png">
            <a:extLst>
              <a:ext uri="{FF2B5EF4-FFF2-40B4-BE49-F238E27FC236}">
                <a16:creationId xmlns:a16="http://schemas.microsoft.com/office/drawing/2014/main" id="{3E87E77B-9DF9-4EA3-871F-45988CF8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240" y="1473200"/>
            <a:ext cx="2560320" cy="256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2421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DE740EAF-5DB8-4F37-A47A-645E0B7BAEC4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D19BC81-C9DC-46FC-AAF6-8DF88B379A87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94334-CE3A-45AA-9A93-FB91C2CB360E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Актуальность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9C3F855-9CB6-4548-81A1-D006DF6EB8A9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EC3B06-E872-4D56-98B3-F7946194DF33}"/>
              </a:ext>
            </a:extLst>
          </p:cNvPr>
          <p:cNvSpPr txBox="1"/>
          <p:nvPr/>
        </p:nvSpPr>
        <p:spPr>
          <a:xfrm>
            <a:off x="914400" y="1651000"/>
            <a:ext cx="10033000" cy="1143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Современный школьник ежедневно работает с большим объёмом учебной информации: конспектами, домашними заданиями, материалами из интернета и заметками в телефоне. Проблема не в отсутствии информации, а в том, что она хранится в разных местах и не образует единую систему.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277F1-5376-4B4E-B20A-909862472C51}"/>
              </a:ext>
            </a:extLst>
          </p:cNvPr>
          <p:cNvSpPr txBox="1"/>
          <p:nvPr/>
        </p:nvSpPr>
        <p:spPr>
          <a:xfrm>
            <a:off x="914400" y="3327400"/>
            <a:ext cx="10033000" cy="1651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Перед контрольной или экзаменом ученик часто заново собирает материал, ищет нужные темы и пытается понять, как они связаны между собой. Из-за этого повторение занимает больше времени, а знания остаются отдельными фрагментами.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CAAE607-3422-458C-863F-706958F84B4F}"/>
              </a:ext>
            </a:extLst>
          </p:cNvPr>
          <p:cNvSpPr/>
          <p:nvPr/>
        </p:nvSpPr>
        <p:spPr>
          <a:xfrm>
            <a:off x="1143000" y="5270500"/>
            <a:ext cx="9906000" cy="107950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C8D4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100" b="1" dirty="0">
                <a:solidFill>
                  <a:srgbClr val="1F242D"/>
                </a:solidFill>
                <a:latin typeface="Segoe UI" panose="020B0502040204020203" pitchFamily="34" charset="0"/>
              </a:rPr>
              <a:t>Вывод: нужна система, которая не просто хранит записи, а связывает учебные темы между собой.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2EDBE-BCBF-467C-A61E-DF05CFC4B038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637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E0586FEB-51A9-4D38-910F-17DF8E2CDFFC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329A0A6-92BE-4EA5-B0D5-9079E8E85B08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A7599-A752-4711-99D8-CBE8EBBEE146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Цель и задачи проекта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EF6F014-CA4D-4FD5-9E4F-640C553B988B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6D83FA-1B68-42DD-B050-F1F3D9F2E99E}"/>
              </a:ext>
            </a:extLst>
          </p:cNvPr>
          <p:cNvSpPr txBox="1"/>
          <p:nvPr/>
        </p:nvSpPr>
        <p:spPr>
          <a:xfrm>
            <a:off x="984250" y="1412240"/>
            <a:ext cx="10223500" cy="787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300" b="1" dirty="0">
                <a:solidFill>
                  <a:srgbClr val="1F242D"/>
                </a:solidFill>
                <a:latin typeface="Segoe UI" panose="020B0502040204020203" pitchFamily="34" charset="0"/>
              </a:rPr>
              <a:t>Цель проекта - разработать Android-приложение Veda для хранения учебных заметок, домашних заданий и отображения связей между учебными темами.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DBD89-3A64-4F82-A639-8079DEE818D8}"/>
              </a:ext>
            </a:extLst>
          </p:cNvPr>
          <p:cNvSpPr txBox="1"/>
          <p:nvPr/>
        </p:nvSpPr>
        <p:spPr>
          <a:xfrm>
            <a:off x="1168400" y="2806699"/>
            <a:ext cx="9652000" cy="2540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1. Изучить метод </a:t>
            </a:r>
            <a:r>
              <a:rPr lang="ru-RU" sz="2200" dirty="0" err="1">
                <a:solidFill>
                  <a:srgbClr val="1F242D"/>
                </a:solidFill>
                <a:latin typeface="Segoe UI" panose="020B0502040204020203" pitchFamily="34" charset="0"/>
              </a:rPr>
              <a:t>Zettelkaste</a:t>
            </a:r>
            <a:r>
              <a:rPr lang="en-US" sz="2200" dirty="0">
                <a:solidFill>
                  <a:srgbClr val="1F242D"/>
                </a:solidFill>
                <a:latin typeface="Segoe UI" panose="020B0502040204020203" pitchFamily="34" charset="0"/>
              </a:rPr>
              <a:t>n</a:t>
            </a:r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.</a:t>
            </a:r>
          </a:p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2. Проанализировать рынок.</a:t>
            </a:r>
          </a:p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3. Спроектировать структуру.</a:t>
            </a:r>
          </a:p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4. Реализовать базовые функции.</a:t>
            </a:r>
          </a:p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5. Подготовить рабочую MVP-версию для демонстрации.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579BB-1640-4D4B-BF42-80D37EBDE496}"/>
              </a:ext>
            </a:extLst>
          </p:cNvPr>
          <p:cNvSpPr txBox="1"/>
          <p:nvPr/>
        </p:nvSpPr>
        <p:spPr>
          <a:xfrm>
            <a:off x="1168400" y="5443220"/>
            <a:ext cx="9652000" cy="889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300" b="1" dirty="0">
                <a:solidFill>
                  <a:srgbClr val="44678C"/>
                </a:solidFill>
                <a:latin typeface="Segoe UI" panose="020B0502040204020203" pitchFamily="34" charset="0"/>
              </a:rPr>
              <a:t>Фокус проекта - связь между учебными темами и понятная структура знаний.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177A1-453C-4A01-8C79-30345DA8299F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966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932756F7-C637-42A2-AC68-48DAD0D9D23B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20D9871-1838-43D3-902E-05C5170CE1C2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F8AC5-EB40-44A1-BF14-301462BB2251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Идея решения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0F93223-5852-4F1D-94A0-620F6FCB8252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18A858-78E4-4964-85BD-589987788D1B}"/>
              </a:ext>
            </a:extLst>
          </p:cNvPr>
          <p:cNvSpPr txBox="1"/>
          <p:nvPr/>
        </p:nvSpPr>
        <p:spPr>
          <a:xfrm>
            <a:off x="736600" y="1358899"/>
            <a:ext cx="9984740" cy="1384281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400" dirty="0">
                <a:solidFill>
                  <a:srgbClr val="1F242D"/>
                </a:solidFill>
                <a:latin typeface="Segoe UI" panose="020B0502040204020203" pitchFamily="34" charset="0"/>
              </a:rPr>
              <a:t>Veda - это не просто </a:t>
            </a:r>
            <a:r>
              <a:rPr lang="ru-RU" sz="2400" dirty="0" err="1">
                <a:solidFill>
                  <a:srgbClr val="1F242D"/>
                </a:solidFill>
                <a:latin typeface="Segoe UI" panose="020B0502040204020203" pitchFamily="34" charset="0"/>
              </a:rPr>
              <a:t>заметочник</a:t>
            </a:r>
            <a:r>
              <a:rPr lang="ru-RU" sz="2400" dirty="0">
                <a:solidFill>
                  <a:srgbClr val="1F242D"/>
                </a:solidFill>
                <a:latin typeface="Segoe UI" panose="020B0502040204020203" pitchFamily="34" charset="0"/>
              </a:rPr>
              <a:t>. Приложение помогает хранить учебный материал, связывать темы между собой и видеть структуру знаний в виде графа.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9E8F9-9737-4FAE-BBEC-8F7679296400}"/>
              </a:ext>
            </a:extLst>
          </p:cNvPr>
          <p:cNvSpPr txBox="1"/>
          <p:nvPr/>
        </p:nvSpPr>
        <p:spPr>
          <a:xfrm>
            <a:off x="1079500" y="2781320"/>
            <a:ext cx="9652000" cy="1905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Основные модули приложения:</a:t>
            </a:r>
          </a:p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- заметки для фиксации учебного материала;</a:t>
            </a:r>
          </a:p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- внутренние ссылки между заметками;</a:t>
            </a:r>
          </a:p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- граф знаний для визуализации связей;</a:t>
            </a:r>
          </a:p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- домашние задания и расписание как учебные помощники.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81604BA-1A18-414E-9A60-2BBEA3BE9D1C}"/>
              </a:ext>
            </a:extLst>
          </p:cNvPr>
          <p:cNvSpPr/>
          <p:nvPr/>
        </p:nvSpPr>
        <p:spPr>
          <a:xfrm>
            <a:off x="1143000" y="5243830"/>
            <a:ext cx="9525000" cy="87122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C8D4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100" b="1" dirty="0">
                <a:solidFill>
                  <a:srgbClr val="1F242D"/>
                </a:solidFill>
                <a:latin typeface="Segoe UI" panose="020B0502040204020203" pitchFamily="34" charset="0"/>
              </a:rPr>
              <a:t>Главная функция продукта - граф знаний: он превращает отдельные записи в связанную систему.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FEDC2-3E31-4970-939D-8C3065882B41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893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DC98034E-D663-409D-B88F-90007B82C2C3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2FE8F9F-E9B2-4AFA-A4FC-DFAEFE54EF76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1953C-B235-4F03-A131-95C910663DD8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Принцип работы приложения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6C2164C-6D01-429D-A45F-DBF72F5E9258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2C7F5F-6C01-46D0-8BDA-5EAF3FD91EC7}"/>
              </a:ext>
            </a:extLst>
          </p:cNvPr>
          <p:cNvSpPr txBox="1"/>
          <p:nvPr/>
        </p:nvSpPr>
        <p:spPr>
          <a:xfrm>
            <a:off x="914400" y="1524000"/>
            <a:ext cx="10160000" cy="711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100">
                <a:solidFill>
                  <a:srgbClr val="1F242D"/>
                </a:solidFill>
                <a:latin typeface="Segoe UI" panose="020B0502040204020203" pitchFamily="34" charset="0"/>
              </a:rPr>
              <a:t>Работа Veda строится вокруг заметки. Пользователь создаёт запись, добавляет связь с другой темой, а приложение сохраняет эту связь и использует её для построения графа.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B8E28D7-0A41-4EDB-9316-133FE8CA2A47}"/>
              </a:ext>
            </a:extLst>
          </p:cNvPr>
          <p:cNvSpPr/>
          <p:nvPr/>
        </p:nvSpPr>
        <p:spPr>
          <a:xfrm>
            <a:off x="889000" y="2776227"/>
            <a:ext cx="1905000" cy="8229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000" b="1">
                <a:solidFill>
                  <a:srgbClr val="1F242D"/>
                </a:solidFill>
                <a:latin typeface="Segoe UI" panose="020B0502040204020203" pitchFamily="34" charset="0"/>
              </a:rPr>
              <a:t>Заметка</a:t>
            </a:r>
          </a:p>
          <a:p>
            <a:pPr algn="ctr"/>
            <a:r>
              <a:rPr lang="en-US" sz="2000" b="1">
                <a:solidFill>
                  <a:srgbClr val="1F242D"/>
                </a:solidFill>
                <a:latin typeface="Segoe UI" panose="020B0502040204020203" pitchFamily="34" charset="0"/>
              </a:rPr>
              <a:t>contentHtml</a:t>
            </a:r>
            <a:endParaRPr lang="ru-RU" sz="2000" b="1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FF3A0AF-F7EB-4F21-9EC7-070236FCE07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794000" y="3187698"/>
            <a:ext cx="990600" cy="2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17DF9B5-455D-4CD9-B905-1263FE44BAF2}"/>
              </a:ext>
            </a:extLst>
          </p:cNvPr>
          <p:cNvSpPr/>
          <p:nvPr/>
        </p:nvSpPr>
        <p:spPr>
          <a:xfrm>
            <a:off x="3784600" y="2776228"/>
            <a:ext cx="2164080" cy="822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000" b="1">
                <a:solidFill>
                  <a:srgbClr val="1F242D"/>
                </a:solidFill>
                <a:latin typeface="Segoe UI" panose="020B0502040204020203" pitchFamily="34" charset="0"/>
              </a:rPr>
              <a:t>Ссылка</a:t>
            </a:r>
          </a:p>
          <a:p>
            <a:pPr algn="ctr"/>
            <a:r>
              <a:rPr lang="en-US" sz="2000" b="1">
                <a:solidFill>
                  <a:srgbClr val="1F242D"/>
                </a:solidFill>
                <a:latin typeface="Segoe UI" panose="020B0502040204020203" pitchFamily="34" charset="0"/>
              </a:rPr>
              <a:t>veda://note/id</a:t>
            </a:r>
            <a:endParaRPr lang="ru-RU" sz="2000" b="1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B249872-4671-4733-B987-1D51CB7AEFD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948680" y="3187700"/>
            <a:ext cx="88392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DA83C95-BADA-472E-B311-571D8F9BF00F}"/>
              </a:ext>
            </a:extLst>
          </p:cNvPr>
          <p:cNvSpPr/>
          <p:nvPr/>
        </p:nvSpPr>
        <p:spPr>
          <a:xfrm>
            <a:off x="6858000" y="2776227"/>
            <a:ext cx="1778000" cy="822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Таблица</a:t>
            </a:r>
          </a:p>
          <a:p>
            <a:pPr algn="ctr"/>
            <a:r>
              <a:rPr lang="en-US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links</a:t>
            </a:r>
            <a:endParaRPr lang="ru-RU" sz="2000" b="1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4583514-E2AD-434A-9AB5-EAD8C8F8E3F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636000" y="3187695"/>
            <a:ext cx="990600" cy="5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3771152-D143-4DC3-AE04-3B8D0CDDB6A7}"/>
              </a:ext>
            </a:extLst>
          </p:cNvPr>
          <p:cNvSpPr/>
          <p:nvPr/>
        </p:nvSpPr>
        <p:spPr>
          <a:xfrm>
            <a:off x="9652000" y="2776227"/>
            <a:ext cx="1651000" cy="840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Граф</a:t>
            </a:r>
          </a:p>
          <a:p>
            <a:pPr algn="ctr"/>
            <a:r>
              <a:rPr lang="en-US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WebView</a:t>
            </a:r>
            <a:endParaRPr lang="ru-RU" sz="2000" b="1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10881-79E3-4C35-8F33-518CCDE03916}"/>
              </a:ext>
            </a:extLst>
          </p:cNvPr>
          <p:cNvSpPr txBox="1"/>
          <p:nvPr/>
        </p:nvSpPr>
        <p:spPr>
          <a:xfrm>
            <a:off x="1219200" y="4318000"/>
            <a:ext cx="9652000" cy="1168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>
                <a:solidFill>
                  <a:srgbClr val="1F242D"/>
                </a:solidFill>
                <a:latin typeface="Segoe UI" panose="020B0502040204020203" pitchFamily="34" charset="0"/>
              </a:rPr>
              <a:t>Важная идея: связь хранится не только в тексте заметки. После сохранения она отдельно записывается в базу данных, поэтому граф может быстро построить актуальную карту знаний.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E2EB30-042C-4C69-A311-74DE19308DCB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928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07D7CD6-A5B2-462B-A755-99F0F85C1EE1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EB1958A0-60F2-4D20-A12C-8614A51AF2BC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C3DED-9D1E-4029-B289-F8FB373EC27D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Интерфейс </a:t>
            </a:r>
            <a:r>
              <a:rPr lang="en-US" sz="3400" b="1">
                <a:solidFill>
                  <a:srgbClr val="1F242D"/>
                </a:solidFill>
                <a:latin typeface="Segoe UI" panose="020B0502040204020203" pitchFamily="34" charset="0"/>
              </a:rPr>
              <a:t>MVP</a:t>
            </a:r>
            <a:endParaRPr lang="ru-RU" sz="3400" b="1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AB055C29-BC40-4BC1-985E-7FE97E8D2720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5617DA9-6DEB-40E5-A667-AC482CDFC949}"/>
              </a:ext>
            </a:extLst>
          </p:cNvPr>
          <p:cNvSpPr txBox="1"/>
          <p:nvPr/>
        </p:nvSpPr>
        <p:spPr>
          <a:xfrm>
            <a:off x="673101" y="1574817"/>
            <a:ext cx="5207000" cy="1854183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MVP показывает базовую работу приложения: пользователь открывает Veda, переходит к заметкам и видит учебные темы, сохранённые в локальной базе.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17DAF-745A-47BD-8409-057FC130965A}"/>
              </a:ext>
            </a:extLst>
          </p:cNvPr>
          <p:cNvSpPr txBox="1"/>
          <p:nvPr/>
        </p:nvSpPr>
        <p:spPr>
          <a:xfrm>
            <a:off x="6502400" y="5842000"/>
            <a:ext cx="1778000" cy="330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b="1">
                <a:solidFill>
                  <a:srgbClr val="6B757F"/>
                </a:solidFill>
                <a:latin typeface="Segoe UI" panose="020B0502040204020203" pitchFamily="34" charset="0"/>
              </a:rPr>
              <a:t>Главный экран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73000-6576-4C4D-B6E2-D232FF9DF746}"/>
              </a:ext>
            </a:extLst>
          </p:cNvPr>
          <p:cNvSpPr txBox="1"/>
          <p:nvPr/>
        </p:nvSpPr>
        <p:spPr>
          <a:xfrm>
            <a:off x="8940800" y="5842000"/>
            <a:ext cx="1905000" cy="330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b="1">
                <a:solidFill>
                  <a:srgbClr val="6B757F"/>
                </a:solidFill>
                <a:latin typeface="Segoe UI" panose="020B0502040204020203" pitchFamily="34" charset="0"/>
              </a:rPr>
              <a:t>Заметки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12101-8C29-42BA-806D-0BFFC34F31CA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34B32-9A95-4247-B551-1ED825DFA45E}"/>
              </a:ext>
            </a:extLst>
          </p:cNvPr>
          <p:cNvSpPr txBox="1"/>
          <p:nvPr/>
        </p:nvSpPr>
        <p:spPr>
          <a:xfrm>
            <a:off x="673101" y="3479800"/>
            <a:ext cx="4803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Дальше рассмотрим функции дневника и графа знаний.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BF98053-87D1-4500-A211-8F7AEEF898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" b="2444"/>
          <a:stretch/>
        </p:blipFill>
        <p:spPr>
          <a:xfrm>
            <a:off x="8801100" y="1243189"/>
            <a:ext cx="2159000" cy="450991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529E612-DEC8-4F52-BF53-146AE99ED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" b="1667"/>
          <a:stretch/>
        </p:blipFill>
        <p:spPr>
          <a:xfrm>
            <a:off x="6255957" y="1243189"/>
            <a:ext cx="2141283" cy="45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7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27B3C779-D1E1-420F-AF57-CC9587212BB3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4C1953A4-210A-431F-8CB6-98113217C796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0EE5F-D6B3-4942-AA15-798108F770EE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Граф знаний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F6CC16C-640F-4E37-8731-1801DDD50388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E9A106-8B6C-4ADE-BF34-7D7C7ACDF9B5}"/>
              </a:ext>
            </a:extLst>
          </p:cNvPr>
          <p:cNvSpPr txBox="1"/>
          <p:nvPr/>
        </p:nvSpPr>
        <p:spPr>
          <a:xfrm>
            <a:off x="762000" y="1397000"/>
            <a:ext cx="4191000" cy="4191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>
                <a:solidFill>
                  <a:srgbClr val="1F242D"/>
                </a:solidFill>
                <a:latin typeface="Segoe UI" panose="020B0502040204020203" pitchFamily="34" charset="0"/>
              </a:rPr>
              <a:t>Граф показывает, как учебные темы связаны между собой. Узел графа - это заметка, а линия между узлами - связь из таблицы links.</a:t>
            </a:r>
          </a:p>
          <a:p>
            <a:endParaRPr lang="ru-RU" sz="220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ru-RU" sz="2200">
                <a:solidFill>
                  <a:srgbClr val="1F242D"/>
                </a:solidFill>
                <a:latin typeface="Segoe UI" panose="020B0502040204020203" pitchFamily="34" charset="0"/>
              </a:rPr>
              <a:t>Так ученик видит не отдельные записи, а структуру: какие темы относятся к одному предмету, какие понятия связаны и где находятся важные узлы знаний.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531D8-D859-4493-B25D-50AE927441A3}"/>
              </a:ext>
            </a:extLst>
          </p:cNvPr>
          <p:cNvSpPr txBox="1"/>
          <p:nvPr/>
        </p:nvSpPr>
        <p:spPr>
          <a:xfrm>
            <a:off x="5461000" y="5842000"/>
            <a:ext cx="4953000" cy="3556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1900" b="1">
                <a:solidFill>
                  <a:srgbClr val="44678C"/>
                </a:solidFill>
                <a:latin typeface="Segoe UI" panose="020B0502040204020203" pitchFamily="34" charset="0"/>
              </a:rPr>
              <a:t>Пример: глобальный граф, 150 узлов и 458 связей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531F3A-29C7-47A1-AACC-21D9049EC187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7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2261DF3-0BE2-4867-A203-8836F0275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2" b="25592"/>
          <a:stretch/>
        </p:blipFill>
        <p:spPr>
          <a:xfrm>
            <a:off x="5840730" y="1344833"/>
            <a:ext cx="4306570" cy="416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87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51367CA1-8343-4227-97D8-0EB4001C55D4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E6FF913-289F-45D3-9969-A21DB1B62AED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D5007-5651-45BC-9FE3-117463E1CE6E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Заметка и домашнее задание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85B734D-166D-4C65-AE88-C1ABA180B0AB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1BA3F8-A13F-4C1E-A14F-C82AC0599C5C}"/>
              </a:ext>
            </a:extLst>
          </p:cNvPr>
          <p:cNvSpPr txBox="1"/>
          <p:nvPr/>
        </p:nvSpPr>
        <p:spPr>
          <a:xfrm>
            <a:off x="4512626" y="1584973"/>
            <a:ext cx="3175000" cy="1704327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Заметка хранит учебный материал и может содержать внутренние ссылки на другие темы.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C8623-97AC-4CEA-96CD-2BC812D9FEDD}"/>
              </a:ext>
            </a:extLst>
          </p:cNvPr>
          <p:cNvSpPr txBox="1"/>
          <p:nvPr/>
        </p:nvSpPr>
        <p:spPr>
          <a:xfrm>
            <a:off x="4512626" y="4038600"/>
            <a:ext cx="3175000" cy="212598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Домашние задания помогают контролировать учебную нагрузку и не смешиваются с заметками логически.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65B96-7BD1-49F3-A90F-5453CD22FC90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8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259220A-1D4D-41A7-8CC4-F5DDD3BB2A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8" b="10000"/>
          <a:stretch/>
        </p:blipFill>
        <p:spPr>
          <a:xfrm>
            <a:off x="8466440" y="1357462"/>
            <a:ext cx="2646060" cy="506873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B1E5368-B2CF-49DB-A669-156BA515E7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0" b="10428"/>
          <a:stretch/>
        </p:blipFill>
        <p:spPr>
          <a:xfrm>
            <a:off x="1079500" y="1357462"/>
            <a:ext cx="2646048" cy="5068738"/>
          </a:xfrm>
          <a:prstGeom prst="rect">
            <a:avLst/>
          </a:prstGeom>
        </p:spPr>
      </p:pic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45047B05-F9C1-492A-92B0-AD9F7DFA9CAD}"/>
              </a:ext>
            </a:extLst>
          </p:cNvPr>
          <p:cNvSpPr/>
          <p:nvPr/>
        </p:nvSpPr>
        <p:spPr>
          <a:xfrm rot="10800000">
            <a:off x="3971606" y="2303145"/>
            <a:ext cx="541020" cy="267982"/>
          </a:xfrm>
          <a:prstGeom prst="rightArrow">
            <a:avLst>
              <a:gd name="adj1" fmla="val 38626"/>
              <a:gd name="adj2" fmla="val 585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23516B07-7B12-41EB-83A7-1DC5FE09D2C7}"/>
              </a:ext>
            </a:extLst>
          </p:cNvPr>
          <p:cNvSpPr/>
          <p:nvPr/>
        </p:nvSpPr>
        <p:spPr>
          <a:xfrm>
            <a:off x="7687626" y="4833608"/>
            <a:ext cx="541020" cy="267982"/>
          </a:xfrm>
          <a:prstGeom prst="rightArrow">
            <a:avLst>
              <a:gd name="adj1" fmla="val 38626"/>
              <a:gd name="adj2" fmla="val 585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01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5F583202-FD45-42B6-840A-EFFC9E98864C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2A9FB3C4-D441-45EA-B773-35C19CB99762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AC75A-6ABF-424B-B49E-7670118EFEDA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Архитектура приложения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175E73C-1231-4220-AB60-B7DDEAD0C3A8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838EC2-BD4A-412C-9DA0-C0C83A4EA073}"/>
              </a:ext>
            </a:extLst>
          </p:cNvPr>
          <p:cNvSpPr txBox="1"/>
          <p:nvPr/>
        </p:nvSpPr>
        <p:spPr>
          <a:xfrm>
            <a:off x="736600" y="1308100"/>
            <a:ext cx="10414000" cy="7366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Приложение построено по многоуровневой схеме. Экран не работает с базой напрямую: данные проходят через </a:t>
            </a:r>
            <a:r>
              <a:rPr lang="ru-RU" sz="2200" dirty="0" err="1">
                <a:solidFill>
                  <a:srgbClr val="1F242D"/>
                </a:solidFill>
                <a:latin typeface="Segoe UI" panose="020B0502040204020203" pitchFamily="34" charset="0"/>
              </a:rPr>
              <a:t>ViewModel</a:t>
            </a:r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 и </a:t>
            </a:r>
            <a:r>
              <a:rPr lang="ru-RU" sz="2200" dirty="0" err="1">
                <a:solidFill>
                  <a:srgbClr val="1F242D"/>
                </a:solidFill>
                <a:latin typeface="Segoe UI" panose="020B0502040204020203" pitchFamily="34" charset="0"/>
              </a:rPr>
              <a:t>Repository</a:t>
            </a:r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CFDC292-464D-414C-B078-4E793A126EEE}"/>
              </a:ext>
            </a:extLst>
          </p:cNvPr>
          <p:cNvSpPr/>
          <p:nvPr/>
        </p:nvSpPr>
        <p:spPr>
          <a:xfrm>
            <a:off x="1054100" y="2567759"/>
            <a:ext cx="1841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Activity</a:t>
            </a:r>
          </a:p>
          <a:p>
            <a:pPr algn="ctr"/>
            <a:r>
              <a:rPr lang="ru-RU" sz="2000" dirty="0">
                <a:solidFill>
                  <a:srgbClr val="1F242D"/>
                </a:solidFill>
                <a:latin typeface="Segoe UI" panose="020B0502040204020203" pitchFamily="34" charset="0"/>
              </a:rPr>
              <a:t>экран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881A0E1-736C-47E8-A151-792E3F85E852}"/>
              </a:ext>
            </a:extLst>
          </p:cNvPr>
          <p:cNvCxnSpPr/>
          <p:nvPr/>
        </p:nvCxnSpPr>
        <p:spPr>
          <a:xfrm>
            <a:off x="2946400" y="2971800"/>
            <a:ext cx="80010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76166E0-DFE0-4436-BCB9-5FCE425DF46E}"/>
              </a:ext>
            </a:extLst>
          </p:cNvPr>
          <p:cNvSpPr/>
          <p:nvPr/>
        </p:nvSpPr>
        <p:spPr>
          <a:xfrm>
            <a:off x="3746500" y="2493919"/>
            <a:ext cx="1841500" cy="9350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0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ViewModel</a:t>
            </a:r>
            <a:endParaRPr lang="en-US" sz="20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2000" dirty="0">
                <a:solidFill>
                  <a:srgbClr val="1F242D"/>
                </a:solidFill>
                <a:latin typeface="Segoe UI" panose="020B0502040204020203" pitchFamily="34" charset="0"/>
              </a:rPr>
              <a:t>данные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01CA72B-71E6-48F5-91A2-BD6002C61265}"/>
              </a:ext>
            </a:extLst>
          </p:cNvPr>
          <p:cNvCxnSpPr/>
          <p:nvPr/>
        </p:nvCxnSpPr>
        <p:spPr>
          <a:xfrm>
            <a:off x="5638800" y="2971800"/>
            <a:ext cx="80010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E932F9A-C2B5-4181-92F0-25F7C7EFAFE2}"/>
              </a:ext>
            </a:extLst>
          </p:cNvPr>
          <p:cNvSpPr/>
          <p:nvPr/>
        </p:nvSpPr>
        <p:spPr>
          <a:xfrm>
            <a:off x="6464300" y="2392317"/>
            <a:ext cx="2032000" cy="1158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Repository</a:t>
            </a:r>
          </a:p>
          <a:p>
            <a:pPr algn="ctr"/>
            <a:r>
              <a:rPr lang="ru-RU" sz="2000" dirty="0">
                <a:solidFill>
                  <a:srgbClr val="1F242D"/>
                </a:solidFill>
                <a:latin typeface="Segoe UI" panose="020B0502040204020203" pitchFamily="34" charset="0"/>
              </a:rPr>
              <a:t>единый доступ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5B146E9-8ED9-40B6-A1BA-A3424D872E6C}"/>
              </a:ext>
            </a:extLst>
          </p:cNvPr>
          <p:cNvCxnSpPr/>
          <p:nvPr/>
        </p:nvCxnSpPr>
        <p:spPr>
          <a:xfrm>
            <a:off x="8521700" y="2971800"/>
            <a:ext cx="81280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48BBFF0-BA3F-4A55-A166-45F55C39BC8C}"/>
              </a:ext>
            </a:extLst>
          </p:cNvPr>
          <p:cNvSpPr/>
          <p:nvPr/>
        </p:nvSpPr>
        <p:spPr>
          <a:xfrm>
            <a:off x="9359900" y="2578101"/>
            <a:ext cx="1397000" cy="8381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DAO</a:t>
            </a:r>
          </a:p>
          <a:p>
            <a:pPr algn="ctr"/>
            <a:r>
              <a:rPr lang="en-US" sz="2000" dirty="0">
                <a:solidFill>
                  <a:srgbClr val="1F242D"/>
                </a:solidFill>
                <a:latin typeface="Segoe UI" panose="020B0502040204020203" pitchFamily="34" charset="0"/>
              </a:rPr>
              <a:t>SQL</a:t>
            </a:r>
            <a:endParaRPr lang="ru-RU" sz="2000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9984372-273F-40A0-A07F-A4BC4FCD418C}"/>
              </a:ext>
            </a:extLst>
          </p:cNvPr>
          <p:cNvCxnSpPr/>
          <p:nvPr/>
        </p:nvCxnSpPr>
        <p:spPr>
          <a:xfrm>
            <a:off x="10058400" y="3416300"/>
            <a:ext cx="0" cy="71120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A3E8332-6A9E-4F09-90AB-21B4E84C6F80}"/>
              </a:ext>
            </a:extLst>
          </p:cNvPr>
          <p:cNvSpPr/>
          <p:nvPr/>
        </p:nvSpPr>
        <p:spPr>
          <a:xfrm>
            <a:off x="8724900" y="4152899"/>
            <a:ext cx="2667000" cy="1130293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C8D4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000" b="1" dirty="0">
                <a:solidFill>
                  <a:srgbClr val="1F242D"/>
                </a:solidFill>
                <a:latin typeface="Segoe UI" panose="020B0502040204020203" pitchFamily="34" charset="0"/>
              </a:rPr>
              <a:t>Room Database</a:t>
            </a:r>
          </a:p>
          <a:p>
            <a:pPr algn="ctr"/>
            <a:r>
              <a:rPr lang="ru-RU" sz="2000" dirty="0">
                <a:solidFill>
                  <a:srgbClr val="1F242D"/>
                </a:solidFill>
                <a:latin typeface="Segoe UI" panose="020B0502040204020203" pitchFamily="34" charset="0"/>
              </a:rPr>
              <a:t>локальное хранение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A4B19-4861-4B11-A4EC-F17C9D8A68D4}"/>
              </a:ext>
            </a:extLst>
          </p:cNvPr>
          <p:cNvSpPr txBox="1"/>
          <p:nvPr/>
        </p:nvSpPr>
        <p:spPr>
          <a:xfrm>
            <a:off x="736600" y="4213507"/>
            <a:ext cx="7558314" cy="1521087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Примеры 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Activity: </a:t>
            </a:r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MainActivity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, </a:t>
            </a:r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EditNoteActivity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, </a:t>
            </a:r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GraphActivity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, </a:t>
            </a:r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HomeworkListActivity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. </a:t>
            </a:r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Они отвечают за интерфейс, но основная работа с данными идёт ниже - через </a:t>
            </a:r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VedaRepository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 </a:t>
            </a:r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и </a:t>
            </a:r>
            <a:r>
              <a:rPr lang="en-US" sz="2100" dirty="0">
                <a:solidFill>
                  <a:srgbClr val="1F242D"/>
                </a:solidFill>
                <a:latin typeface="Segoe UI" panose="020B0502040204020203" pitchFamily="34" charset="0"/>
              </a:rPr>
              <a:t>DAO.</a:t>
            </a:r>
            <a:endParaRPr lang="ru-RU" sz="2100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180E9-3B17-4CF0-8B97-0E224FF64E5A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04569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839B83A-EDD6-45AF-9996-4381E8983573}"/>
              </a:ext>
            </a:extLst>
          </p:cNvPr>
          <p:cNvSpPr/>
          <p:nvPr/>
        </p:nvSpPr>
        <p:spPr>
          <a:xfrm>
            <a:off x="1206500" y="1354365"/>
            <a:ext cx="2921000" cy="2794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B42D507-FC55-425C-8709-B4ABBC5FD171}"/>
              </a:ext>
            </a:extLst>
          </p:cNvPr>
          <p:cNvSpPr/>
          <p:nvPr/>
        </p:nvSpPr>
        <p:spPr>
          <a:xfrm>
            <a:off x="8145281" y="1346200"/>
            <a:ext cx="2794000" cy="2794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9D3A2CC-2245-4C46-BD84-ED25D48A22F2}"/>
              </a:ext>
            </a:extLst>
          </p:cNvPr>
          <p:cNvSpPr/>
          <p:nvPr/>
        </p:nvSpPr>
        <p:spPr>
          <a:xfrm>
            <a:off x="4341812" y="1362529"/>
            <a:ext cx="3508375" cy="2794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0FF88A0-C2BF-4D29-9479-FC84568ACD9B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993FB44-D420-4B8C-97AE-1E1439AC7CD4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97D5B-5838-4180-8630-A7EA91761263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Основные классы проекта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28B518DE-28CA-4644-A277-F2D7CA0522DA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3B22BD-5DDD-4FB4-BED1-64DF88A2E071}"/>
              </a:ext>
            </a:extLst>
          </p:cNvPr>
          <p:cNvSpPr txBox="1"/>
          <p:nvPr/>
        </p:nvSpPr>
        <p:spPr>
          <a:xfrm>
            <a:off x="1460500" y="1520009"/>
            <a:ext cx="2413000" cy="406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en-US" sz="2400" b="1" dirty="0">
                <a:solidFill>
                  <a:srgbClr val="44678C"/>
                </a:solidFill>
                <a:latin typeface="Segoe UI" panose="020B0502040204020203" pitchFamily="34" charset="0"/>
              </a:rPr>
              <a:t>UI-</a:t>
            </a:r>
            <a:r>
              <a:rPr lang="ru-RU" sz="2400" b="1" dirty="0">
                <a:solidFill>
                  <a:srgbClr val="44678C"/>
                </a:solidFill>
                <a:latin typeface="Segoe UI" panose="020B0502040204020203" pitchFamily="34" charset="0"/>
              </a:rPr>
              <a:t>слой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3C9C5-688D-4672-BF63-97754DA07BEE}"/>
              </a:ext>
            </a:extLst>
          </p:cNvPr>
          <p:cNvSpPr txBox="1"/>
          <p:nvPr/>
        </p:nvSpPr>
        <p:spPr>
          <a:xfrm>
            <a:off x="1377156" y="1968500"/>
            <a:ext cx="2857500" cy="17145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MainActivity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EditNoteActivity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NoteViewActivity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GraphActivity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HomeworkListActivity</a:t>
            </a:r>
            <a:endParaRPr lang="ru-RU" sz="2100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DE1043-9A1B-4EB6-9F9D-A40DE1B2DD74}"/>
              </a:ext>
            </a:extLst>
          </p:cNvPr>
          <p:cNvSpPr txBox="1"/>
          <p:nvPr/>
        </p:nvSpPr>
        <p:spPr>
          <a:xfrm>
            <a:off x="4635500" y="1518739"/>
            <a:ext cx="2921000" cy="406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400" b="1" dirty="0">
                <a:solidFill>
                  <a:srgbClr val="44678C"/>
                </a:solidFill>
                <a:latin typeface="Segoe UI" panose="020B0502040204020203" pitchFamily="34" charset="0"/>
              </a:rPr>
              <a:t>Логика экранов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FF072-8500-4F25-A5E0-836376A803E8}"/>
              </a:ext>
            </a:extLst>
          </p:cNvPr>
          <p:cNvSpPr txBox="1"/>
          <p:nvPr/>
        </p:nvSpPr>
        <p:spPr>
          <a:xfrm>
            <a:off x="4635500" y="1968500"/>
            <a:ext cx="3175000" cy="17145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NotesListViewModel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EditNoteViewModel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NoteViewViewModel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GraphViewModel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HomeworkListViewModel</a:t>
            </a:r>
            <a:endParaRPr lang="ru-RU" sz="2100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E55153-6B4D-4AB1-A9E4-AFB672F74E12}"/>
              </a:ext>
            </a:extLst>
          </p:cNvPr>
          <p:cNvSpPr txBox="1"/>
          <p:nvPr/>
        </p:nvSpPr>
        <p:spPr>
          <a:xfrm>
            <a:off x="8382000" y="1522368"/>
            <a:ext cx="2286000" cy="4064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400" b="1" dirty="0">
                <a:solidFill>
                  <a:srgbClr val="44678C"/>
                </a:solidFill>
                <a:latin typeface="Segoe UI" panose="020B0502040204020203" pitchFamily="34" charset="0"/>
              </a:rPr>
              <a:t>Данные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42689-5213-44C4-9DDF-BF64C5E070D0}"/>
              </a:ext>
            </a:extLst>
          </p:cNvPr>
          <p:cNvSpPr txBox="1"/>
          <p:nvPr/>
        </p:nvSpPr>
        <p:spPr>
          <a:xfrm>
            <a:off x="8382000" y="2006600"/>
            <a:ext cx="3302000" cy="17145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VedaRepository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NoteDao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LinkDao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HomeworkDao</a:t>
            </a:r>
            <a:endParaRPr lang="en-US" sz="2100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100" dirty="0" err="1">
                <a:solidFill>
                  <a:srgbClr val="1F242D"/>
                </a:solidFill>
                <a:latin typeface="Segoe UI" panose="020B0502040204020203" pitchFamily="34" charset="0"/>
              </a:rPr>
              <a:t>AppDatabase</a:t>
            </a:r>
            <a:endParaRPr lang="ru-RU" sz="2100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CA59A-110C-4B2B-8455-D23EDB75B5C2}"/>
              </a:ext>
            </a:extLst>
          </p:cNvPr>
          <p:cNvSpPr txBox="1"/>
          <p:nvPr/>
        </p:nvSpPr>
        <p:spPr>
          <a:xfrm>
            <a:off x="889000" y="4381500"/>
            <a:ext cx="10871200" cy="960664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en-US" sz="24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Главная</a:t>
            </a:r>
            <a:r>
              <a:rPr lang="en-US" sz="2400" b="1" dirty="0">
                <a:solidFill>
                  <a:srgbClr val="1F242D"/>
                </a:solidFill>
                <a:latin typeface="Segoe UI" panose="020B0502040204020203" pitchFamily="34" charset="0"/>
              </a:rPr>
              <a:t> </a:t>
            </a:r>
            <a:r>
              <a:rPr lang="en-US" sz="24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связка</a:t>
            </a:r>
            <a:r>
              <a:rPr lang="en-US" sz="2400" b="1" dirty="0">
                <a:solidFill>
                  <a:srgbClr val="1F242D"/>
                </a:solidFill>
                <a:latin typeface="Segoe UI" panose="020B0502040204020203" pitchFamily="34" charset="0"/>
              </a:rPr>
              <a:t> </a:t>
            </a:r>
            <a:r>
              <a:rPr lang="en-US" sz="24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проекта</a:t>
            </a:r>
            <a:r>
              <a:rPr lang="en-US" sz="2400" b="1" dirty="0">
                <a:solidFill>
                  <a:srgbClr val="1F242D"/>
                </a:solidFill>
                <a:latin typeface="Segoe UI" panose="020B0502040204020203" pitchFamily="34" charset="0"/>
              </a:rPr>
              <a:t>:</a:t>
            </a:r>
            <a:endParaRPr lang="ru-RU" sz="24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en-US" sz="24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NoteEntity.contentHtml</a:t>
            </a:r>
            <a:r>
              <a:rPr lang="en-US" sz="2400" b="1" dirty="0">
                <a:solidFill>
                  <a:srgbClr val="1F242D"/>
                </a:solidFill>
                <a:latin typeface="Segoe UI" panose="020B0502040204020203" pitchFamily="34" charset="0"/>
              </a:rPr>
              <a:t> + veda://note/id + </a:t>
            </a:r>
            <a:r>
              <a:rPr lang="en-US" sz="24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LinkEntity</a:t>
            </a:r>
            <a:r>
              <a:rPr lang="en-US" sz="2400" b="1" dirty="0">
                <a:solidFill>
                  <a:srgbClr val="1F242D"/>
                </a:solidFill>
                <a:latin typeface="Segoe UI" panose="020B0502040204020203" pitchFamily="34" charset="0"/>
              </a:rPr>
              <a:t> + </a:t>
            </a:r>
            <a:r>
              <a:rPr lang="en-US" sz="24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GraphViewModel</a:t>
            </a:r>
            <a:r>
              <a:rPr lang="en-US" sz="2400" b="1" dirty="0">
                <a:solidFill>
                  <a:srgbClr val="1F242D"/>
                </a:solidFill>
                <a:latin typeface="Segoe UI" panose="020B0502040204020203" pitchFamily="34" charset="0"/>
              </a:rPr>
              <a:t>.</a:t>
            </a:r>
            <a:endParaRPr lang="ru-RU" sz="2400" b="1" dirty="0">
              <a:solidFill>
                <a:srgbClr val="1F24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E23C5-6A4F-4710-93AD-D098CEFE4D63}"/>
              </a:ext>
            </a:extLst>
          </p:cNvPr>
          <p:cNvSpPr txBox="1"/>
          <p:nvPr/>
        </p:nvSpPr>
        <p:spPr>
          <a:xfrm>
            <a:off x="889000" y="5334000"/>
            <a:ext cx="9906000" cy="706664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100" dirty="0">
                <a:solidFill>
                  <a:srgbClr val="6B757F"/>
                </a:solidFill>
                <a:latin typeface="Segoe UI" panose="020B0502040204020203" pitchFamily="34" charset="0"/>
              </a:rPr>
              <a:t>Именно эта связка объясняет, как обычный текст заметки становится частью графа знаний.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CD9EB-D784-4A68-9F28-C7588D75C408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839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A5ED8920-2324-48CF-BF59-232F596214B5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D777D5C-3705-4954-A178-999476B5A81B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4B17A-39E3-495A-8ACF-9ECC87B9F859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 dirty="0">
                <a:solidFill>
                  <a:srgbClr val="1F242D"/>
                </a:solidFill>
                <a:latin typeface="Segoe UI" panose="020B0502040204020203" pitchFamily="34" charset="0"/>
              </a:rPr>
              <a:t>Как заметка превращается в граф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90192B3-BC0F-40C9-A513-BD1FB5D83A5D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DE86F6A-B802-4E6A-BFDA-8D87D422A8D4}"/>
              </a:ext>
            </a:extLst>
          </p:cNvPr>
          <p:cNvSpPr/>
          <p:nvPr/>
        </p:nvSpPr>
        <p:spPr>
          <a:xfrm>
            <a:off x="579120" y="1574801"/>
            <a:ext cx="2341880" cy="11919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19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NoteEntity</a:t>
            </a:r>
            <a:endParaRPr lang="en-US" sz="19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9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contentHtml</a:t>
            </a:r>
            <a:endParaRPr lang="ru-RU" sz="19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900" dirty="0">
                <a:solidFill>
                  <a:srgbClr val="1F242D"/>
                </a:solidFill>
                <a:latin typeface="Segoe UI" panose="020B0502040204020203" pitchFamily="34" charset="0"/>
              </a:rPr>
              <a:t>Создает заметку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D2DF4E36-2E2D-4864-AB42-ED1E12BE05F4}"/>
              </a:ext>
            </a:extLst>
          </p:cNvPr>
          <p:cNvCxnSpPr/>
          <p:nvPr/>
        </p:nvCxnSpPr>
        <p:spPr>
          <a:xfrm>
            <a:off x="2946400" y="2171700"/>
            <a:ext cx="80010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A286103-929B-43C1-93E2-FF484321EA2D}"/>
              </a:ext>
            </a:extLst>
          </p:cNvPr>
          <p:cNvSpPr/>
          <p:nvPr/>
        </p:nvSpPr>
        <p:spPr>
          <a:xfrm>
            <a:off x="3771900" y="1636485"/>
            <a:ext cx="1905000" cy="10704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19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NoteHtml</a:t>
            </a:r>
            <a:endParaRPr lang="en-US" sz="19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900" dirty="0">
                <a:solidFill>
                  <a:srgbClr val="1F242D"/>
                </a:solidFill>
                <a:latin typeface="Segoe UI" panose="020B0502040204020203" pitchFamily="34" charset="0"/>
              </a:rPr>
              <a:t>ищет ссылки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4D7B505-4CD7-46F5-B570-446CEEC0CA46}"/>
              </a:ext>
            </a:extLst>
          </p:cNvPr>
          <p:cNvCxnSpPr/>
          <p:nvPr/>
        </p:nvCxnSpPr>
        <p:spPr>
          <a:xfrm>
            <a:off x="5702300" y="2171700"/>
            <a:ext cx="80010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9802E0-B108-4DD9-AF47-2A3B1415D4A0}"/>
              </a:ext>
            </a:extLst>
          </p:cNvPr>
          <p:cNvSpPr/>
          <p:nvPr/>
        </p:nvSpPr>
        <p:spPr>
          <a:xfrm>
            <a:off x="6527800" y="1636484"/>
            <a:ext cx="1841500" cy="10704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19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LinkEntity</a:t>
            </a:r>
            <a:endParaRPr lang="en-US" sz="19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900" dirty="0">
                <a:solidFill>
                  <a:srgbClr val="1F242D"/>
                </a:solidFill>
                <a:latin typeface="Segoe UI" panose="020B0502040204020203" pitchFamily="34" charset="0"/>
              </a:rPr>
              <a:t>таблица ссылок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29514E6-97F0-4FE8-A9AC-4B1C2A4B47D3}"/>
              </a:ext>
            </a:extLst>
          </p:cNvPr>
          <p:cNvCxnSpPr/>
          <p:nvPr/>
        </p:nvCxnSpPr>
        <p:spPr>
          <a:xfrm>
            <a:off x="8394700" y="2171700"/>
            <a:ext cx="800100" cy="0"/>
          </a:xfrm>
          <a:prstGeom prst="straightConnector1">
            <a:avLst/>
          </a:prstGeom>
          <a:ln w="27940">
            <a:solidFill>
              <a:srgbClr val="4467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5C5BA91-19E6-457C-9D27-E9D7BC8E8199}"/>
              </a:ext>
            </a:extLst>
          </p:cNvPr>
          <p:cNvSpPr/>
          <p:nvPr/>
        </p:nvSpPr>
        <p:spPr>
          <a:xfrm>
            <a:off x="9220200" y="1636484"/>
            <a:ext cx="2392680" cy="10704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19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GraphViewModel</a:t>
            </a:r>
            <a:endParaRPr lang="en-US" sz="19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900" dirty="0">
                <a:solidFill>
                  <a:srgbClr val="1F242D"/>
                </a:solidFill>
                <a:latin typeface="Segoe UI" panose="020B0502040204020203" pitchFamily="34" charset="0"/>
              </a:rPr>
              <a:t>узлы и связи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6E72E-A477-445F-A9A3-DEEF0902BF31}"/>
              </a:ext>
            </a:extLst>
          </p:cNvPr>
          <p:cNvSpPr txBox="1"/>
          <p:nvPr/>
        </p:nvSpPr>
        <p:spPr>
          <a:xfrm>
            <a:off x="1041400" y="3225800"/>
            <a:ext cx="10033000" cy="1651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Когда заметка сохраняется, приложение извлекает из HTML все внутренние ссылки вида </a:t>
            </a:r>
            <a:r>
              <a:rPr lang="ru-RU" sz="23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veda</a:t>
            </a:r>
            <a:r>
              <a:rPr lang="ru-RU" sz="2300" b="1" dirty="0">
                <a:solidFill>
                  <a:srgbClr val="1F242D"/>
                </a:solidFill>
                <a:latin typeface="Segoe UI" panose="020B0502040204020203" pitchFamily="34" charset="0"/>
              </a:rPr>
              <a:t>://</a:t>
            </a:r>
            <a:r>
              <a:rPr lang="ru-RU" sz="23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note</a:t>
            </a:r>
            <a:r>
              <a:rPr lang="ru-RU" sz="2300" b="1" dirty="0">
                <a:solidFill>
                  <a:srgbClr val="1F242D"/>
                </a:solidFill>
                <a:latin typeface="Segoe UI" panose="020B0502040204020203" pitchFamily="34" charset="0"/>
              </a:rPr>
              <a:t>/</a:t>
            </a:r>
            <a:r>
              <a:rPr lang="ru-RU" sz="23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id</a:t>
            </a:r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. Затем </a:t>
            </a:r>
            <a:r>
              <a:rPr lang="ru-RU" sz="2300" dirty="0" err="1">
                <a:solidFill>
                  <a:srgbClr val="1F242D"/>
                </a:solidFill>
                <a:latin typeface="Segoe UI" panose="020B0502040204020203" pitchFamily="34" charset="0"/>
              </a:rPr>
              <a:t>Repository</a:t>
            </a:r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 обновляет таблицу </a:t>
            </a:r>
            <a:r>
              <a:rPr lang="ru-RU" sz="2300" dirty="0" err="1">
                <a:solidFill>
                  <a:srgbClr val="1F242D"/>
                </a:solidFill>
                <a:latin typeface="Segoe UI" panose="020B0502040204020203" pitchFamily="34" charset="0"/>
              </a:rPr>
              <a:t>links</a:t>
            </a:r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. После этого </a:t>
            </a:r>
            <a:r>
              <a:rPr lang="ru-RU" sz="2300" dirty="0" err="1">
                <a:solidFill>
                  <a:srgbClr val="1F242D"/>
                </a:solidFill>
                <a:latin typeface="Segoe UI" panose="020B0502040204020203" pitchFamily="34" charset="0"/>
              </a:rPr>
              <a:t>GraphViewModel</a:t>
            </a:r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 получает актуальные связи и передаёт их в граф.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63EEEAC-31D9-45F7-89F8-B715803D3D63}"/>
              </a:ext>
            </a:extLst>
          </p:cNvPr>
          <p:cNvSpPr/>
          <p:nvPr/>
        </p:nvSpPr>
        <p:spPr>
          <a:xfrm>
            <a:off x="1524000" y="5334000"/>
            <a:ext cx="9144000" cy="101600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C8D4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ru-RU" sz="2200" b="1" dirty="0">
                <a:solidFill>
                  <a:srgbClr val="1F242D"/>
                </a:solidFill>
                <a:latin typeface="Segoe UI" panose="020B0502040204020203" pitchFamily="34" charset="0"/>
              </a:rPr>
              <a:t>Граф не создаётся вручную - он автоматически отражает структуру заметок пользователя.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56FB8-B3C4-4418-A37E-0A228ED0793F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83311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8AEA8C50-0386-4408-A80C-DFCBDDC25F42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043C016-E8A3-4520-B014-112ECD5CA280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45025-70BD-4A7A-A917-BEEA2E4417B2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 dirty="0">
                <a:solidFill>
                  <a:srgbClr val="1F242D"/>
                </a:solidFill>
                <a:latin typeface="Segoe UI" panose="020B0502040204020203" pitchFamily="34" charset="0"/>
              </a:rPr>
              <a:t>Локальная база данных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5EEA55C-26CF-4207-9806-F4CD0AF69255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11D320-8582-42AF-96CC-D24B7B99F0B0}"/>
              </a:ext>
            </a:extLst>
          </p:cNvPr>
          <p:cNvSpPr txBox="1"/>
          <p:nvPr/>
        </p:nvSpPr>
        <p:spPr>
          <a:xfrm>
            <a:off x="736600" y="1384301"/>
            <a:ext cx="9906000" cy="863599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 dirty="0">
                <a:solidFill>
                  <a:srgbClr val="1F242D"/>
                </a:solidFill>
                <a:latin typeface="Segoe UI" panose="020B0502040204020203" pitchFamily="34" charset="0"/>
              </a:rPr>
              <a:t>Данные Veda хранятся локально на устройстве. Основные таблицы соответствуют главным сущностям приложения.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1F768FD-6E41-4821-913B-FD4D77345C40}"/>
              </a:ext>
            </a:extLst>
          </p:cNvPr>
          <p:cNvSpPr/>
          <p:nvPr/>
        </p:nvSpPr>
        <p:spPr>
          <a:xfrm>
            <a:off x="1181100" y="2514600"/>
            <a:ext cx="2159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1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NoteEntity</a:t>
            </a:r>
            <a:endParaRPr lang="en-US" sz="21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заметки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AA10159-48D6-495B-9842-78CC4777F5DE}"/>
              </a:ext>
            </a:extLst>
          </p:cNvPr>
          <p:cNvSpPr/>
          <p:nvPr/>
        </p:nvSpPr>
        <p:spPr>
          <a:xfrm>
            <a:off x="4991100" y="2514600"/>
            <a:ext cx="2159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1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LinkEntity</a:t>
            </a:r>
            <a:endParaRPr lang="en-US" sz="21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связи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A61F0FA-BBC0-413F-AE5A-1D5170131A77}"/>
              </a:ext>
            </a:extLst>
          </p:cNvPr>
          <p:cNvSpPr/>
          <p:nvPr/>
        </p:nvSpPr>
        <p:spPr>
          <a:xfrm>
            <a:off x="8801100" y="2514600"/>
            <a:ext cx="2159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1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SubjectEntity</a:t>
            </a:r>
            <a:endParaRPr lang="en-US" sz="21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предметы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107803E-6545-43AE-AB60-4AF45BE56985}"/>
              </a:ext>
            </a:extLst>
          </p:cNvPr>
          <p:cNvSpPr/>
          <p:nvPr/>
        </p:nvSpPr>
        <p:spPr>
          <a:xfrm>
            <a:off x="4529366" y="4356100"/>
            <a:ext cx="3082467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ctr"/>
          <a:lstStyle/>
          <a:p>
            <a:pPr algn="ctr"/>
            <a:r>
              <a:rPr lang="en-US" sz="2100" b="1" dirty="0" err="1">
                <a:solidFill>
                  <a:srgbClr val="1F242D"/>
                </a:solidFill>
                <a:latin typeface="Segoe UI" panose="020B0502040204020203" pitchFamily="34" charset="0"/>
              </a:rPr>
              <a:t>HomeworkEntity</a:t>
            </a:r>
            <a:endParaRPr lang="en-US" sz="2100" b="1" dirty="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2100" dirty="0">
                <a:solidFill>
                  <a:srgbClr val="1F242D"/>
                </a:solidFill>
                <a:latin typeface="Segoe UI" panose="020B0502040204020203" pitchFamily="34" charset="0"/>
              </a:rPr>
              <a:t>домашние задания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B0B64A5-1DFB-41F1-B628-08276EC621D2}"/>
              </a:ext>
            </a:extLst>
          </p:cNvPr>
          <p:cNvCxnSpPr/>
          <p:nvPr/>
        </p:nvCxnSpPr>
        <p:spPr>
          <a:xfrm>
            <a:off x="3340100" y="2959100"/>
            <a:ext cx="1651000" cy="0"/>
          </a:xfrm>
          <a:prstGeom prst="line">
            <a:avLst/>
          </a:prstGeom>
          <a:ln w="25400">
            <a:solidFill>
              <a:srgbClr val="4467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0215F6C-DD05-4BE4-9C3C-E2B6CB2AFED2}"/>
              </a:ext>
            </a:extLst>
          </p:cNvPr>
          <p:cNvCxnSpPr/>
          <p:nvPr/>
        </p:nvCxnSpPr>
        <p:spPr>
          <a:xfrm>
            <a:off x="7150100" y="2959100"/>
            <a:ext cx="1651000" cy="0"/>
          </a:xfrm>
          <a:prstGeom prst="line">
            <a:avLst/>
          </a:prstGeom>
          <a:ln w="25400">
            <a:solidFill>
              <a:srgbClr val="4467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83D7CAA-4DE8-401D-A24F-5C2945D7985E}"/>
              </a:ext>
            </a:extLst>
          </p:cNvPr>
          <p:cNvCxnSpPr/>
          <p:nvPr/>
        </p:nvCxnSpPr>
        <p:spPr>
          <a:xfrm>
            <a:off x="6070600" y="3403600"/>
            <a:ext cx="0" cy="952500"/>
          </a:xfrm>
          <a:prstGeom prst="line">
            <a:avLst/>
          </a:prstGeom>
          <a:ln w="25400">
            <a:solidFill>
              <a:srgbClr val="4467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21014A-5CB4-4423-9CE8-910A69BB3885}"/>
              </a:ext>
            </a:extLst>
          </p:cNvPr>
          <p:cNvSpPr txBox="1"/>
          <p:nvPr/>
        </p:nvSpPr>
        <p:spPr>
          <a:xfrm>
            <a:off x="1143000" y="5537198"/>
            <a:ext cx="9906000" cy="863597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100" dirty="0">
                <a:solidFill>
                  <a:srgbClr val="6B757F"/>
                </a:solidFill>
                <a:latin typeface="Segoe UI" panose="020B0502040204020203" pitchFamily="34" charset="0"/>
              </a:rPr>
              <a:t>Заметки и домашние задания могут быть связаны с предметами, а связи заметок отдельно хранятся в </a:t>
            </a:r>
            <a:r>
              <a:rPr lang="ru-RU" sz="2100" dirty="0" err="1">
                <a:solidFill>
                  <a:srgbClr val="6B757F"/>
                </a:solidFill>
                <a:latin typeface="Segoe UI" panose="020B0502040204020203" pitchFamily="34" charset="0"/>
              </a:rPr>
              <a:t>links</a:t>
            </a:r>
            <a:r>
              <a:rPr lang="ru-RU" sz="2100" dirty="0">
                <a:solidFill>
                  <a:srgbClr val="6B757F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2E4387-F654-45DA-A22A-76F834C99835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6642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DB84CA55-85CA-471D-B164-2D7B9DEA7291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B13F081-369F-4FD9-AE44-D9A32297C0DE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AA6A2-23DE-46D0-8F35-D23A82ECDA16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Реализованные функции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F147B9A-B102-48C4-A356-8748DE55E4A7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5067AC-9DD3-421A-AB4D-1530BE6E2165}"/>
              </a:ext>
            </a:extLst>
          </p:cNvPr>
          <p:cNvSpPr txBox="1"/>
          <p:nvPr/>
        </p:nvSpPr>
        <p:spPr>
          <a:xfrm>
            <a:off x="990600" y="1587500"/>
            <a:ext cx="10033000" cy="3302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400">
                <a:solidFill>
                  <a:srgbClr val="1F242D"/>
                </a:solidFill>
                <a:latin typeface="Segoe UI" panose="020B0502040204020203" pitchFamily="34" charset="0"/>
              </a:rPr>
              <a:t>В результате получился рабочий прототип Android-приложения. В нём реализованы создание и просмотр заметок, внутренние ссылки между темами, построение графа знаний, список домашних заданий, расписание через WebView, предметы и базовые настройки интерфейса.</a:t>
            </a:r>
          </a:p>
          <a:p>
            <a:endParaRPr lang="ru-RU" sz="2400">
              <a:solidFill>
                <a:srgbClr val="1F242D"/>
              </a:solidFill>
              <a:latin typeface="Segoe UI" panose="020B0502040204020203" pitchFamily="34" charset="0"/>
            </a:endParaRPr>
          </a:p>
          <a:p>
            <a:r>
              <a:rPr lang="ru-RU" sz="2400">
                <a:solidFill>
                  <a:srgbClr val="1F242D"/>
                </a:solidFill>
                <a:latin typeface="Segoe UI" panose="020B0502040204020203" pitchFamily="34" charset="0"/>
              </a:rPr>
              <a:t>Главный результат - не просто набор экранов, а связанная система: пользователь создаёт учебные записи, а приложение показывает отношения между ними.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B9AEE-2079-420A-80A9-51125DED9B79}"/>
              </a:ext>
            </a:extLst>
          </p:cNvPr>
          <p:cNvSpPr txBox="1"/>
          <p:nvPr/>
        </p:nvSpPr>
        <p:spPr>
          <a:xfrm>
            <a:off x="990600" y="5334000"/>
            <a:ext cx="10033000" cy="508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200" b="1">
                <a:solidFill>
                  <a:srgbClr val="44678C"/>
                </a:solidFill>
                <a:latin typeface="Segoe UI" panose="020B0502040204020203" pitchFamily="34" charset="0"/>
              </a:rPr>
              <a:t>На демонстрации можно показать три ключевых сценария: заметка, граф знаний и домашнее задание.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267E-CDCC-4BD0-8F51-9F82DA58F274}"/>
              </a:ext>
            </a:extLst>
          </p:cNvPr>
          <p:cNvSpPr txBox="1"/>
          <p:nvPr/>
        </p:nvSpPr>
        <p:spPr>
          <a:xfrm>
            <a:off x="11303000" y="6350000"/>
            <a:ext cx="457200" cy="254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1200">
                <a:solidFill>
                  <a:srgbClr val="6B757F"/>
                </a:solidFill>
                <a:latin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904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A431B38F-B08F-43D9-B512-3FAEF7A9CFF1}"/>
              </a:ext>
            </a:extLst>
          </p:cNvPr>
          <p:cNvSpPr/>
          <p:nvPr/>
        </p:nvSpPr>
        <p:spPr>
          <a:xfrm>
            <a:off x="10414000" y="-889000"/>
            <a:ext cx="2794000" cy="2794000"/>
          </a:xfrm>
          <a:prstGeom prst="ellipse">
            <a:avLst/>
          </a:prstGeom>
          <a:solidFill>
            <a:srgbClr val="E6EBF1">
              <a:alpha val="75000"/>
            </a:srgbClr>
          </a:solidFill>
          <a:ln w="12700" cap="flat" cmpd="sng" algn="ctr">
            <a:solidFill>
              <a:srgbClr val="D6DBE2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54DC1C4-BBCF-4D53-93AC-9267492FB1CE}"/>
              </a:ext>
            </a:extLst>
          </p:cNvPr>
          <p:cNvSpPr/>
          <p:nvPr/>
        </p:nvSpPr>
        <p:spPr>
          <a:xfrm>
            <a:off x="-1079500" y="5461000"/>
            <a:ext cx="2159000" cy="2159000"/>
          </a:xfrm>
          <a:prstGeom prst="ellipse">
            <a:avLst/>
          </a:prstGeom>
          <a:solidFill>
            <a:srgbClr val="E5EBF1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C4F38-D94F-45D1-A97A-8FB24261EE5A}"/>
              </a:ext>
            </a:extLst>
          </p:cNvPr>
          <p:cNvSpPr txBox="1"/>
          <p:nvPr/>
        </p:nvSpPr>
        <p:spPr>
          <a:xfrm>
            <a:off x="736600" y="431800"/>
            <a:ext cx="9144000" cy="5842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3400" b="1">
                <a:solidFill>
                  <a:srgbClr val="1F242D"/>
                </a:solidFill>
                <a:latin typeface="Segoe UI" panose="020B0502040204020203" pitchFamily="34" charset="0"/>
              </a:rPr>
              <a:t>Итоги и перспективы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368AADB-5239-478B-93D0-8295060A2EF4}"/>
              </a:ext>
            </a:extLst>
          </p:cNvPr>
          <p:cNvCxnSpPr/>
          <p:nvPr/>
        </p:nvCxnSpPr>
        <p:spPr>
          <a:xfrm>
            <a:off x="736600" y="1117600"/>
            <a:ext cx="9677400" cy="0"/>
          </a:xfrm>
          <a:prstGeom prst="line">
            <a:avLst/>
          </a:prstGeom>
          <a:ln w="16510">
            <a:solidFill>
              <a:srgbClr val="CAD6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812FF6-C678-4F86-B393-87B17FB50036}"/>
              </a:ext>
            </a:extLst>
          </p:cNvPr>
          <p:cNvSpPr txBox="1"/>
          <p:nvPr/>
        </p:nvSpPr>
        <p:spPr>
          <a:xfrm>
            <a:off x="990600" y="1587500"/>
            <a:ext cx="10033000" cy="20320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400">
                <a:solidFill>
                  <a:srgbClr val="1F242D"/>
                </a:solidFill>
                <a:latin typeface="Segoe UI" panose="020B0502040204020203" pitchFamily="34" charset="0"/>
              </a:rPr>
              <a:t>В ходе проекта был изучен метод Zettelkasten и разработан рабочий прототип Android-приложения Veda. Приложение объединяет заметки, домашние задания, расписание и граф знаний.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59AB3-CDEA-4B3C-988E-851B3440BFAF}"/>
              </a:ext>
            </a:extLst>
          </p:cNvPr>
          <p:cNvSpPr txBox="1"/>
          <p:nvPr/>
        </p:nvSpPr>
        <p:spPr>
          <a:xfrm>
            <a:off x="990600" y="3429000"/>
            <a:ext cx="10033000" cy="1193800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r>
              <a:rPr lang="ru-RU" sz="2300" dirty="0">
                <a:solidFill>
                  <a:srgbClr val="1F242D"/>
                </a:solidFill>
                <a:latin typeface="Segoe UI" panose="020B0502040204020203" pitchFamily="34" charset="0"/>
              </a:rPr>
              <a:t>Дальнейшее развитие может включать улучшение редактора заметок, расширение возможностей графа, поиск по материалам, резервное копирование и облачную синхронизацию.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92BB8-7035-427B-BC30-1936957DA55D}"/>
              </a:ext>
            </a:extLst>
          </p:cNvPr>
          <p:cNvSpPr txBox="1"/>
          <p:nvPr/>
        </p:nvSpPr>
        <p:spPr>
          <a:xfrm>
            <a:off x="1397000" y="5270500"/>
            <a:ext cx="9398000" cy="957217"/>
          </a:xfrm>
          <a:prstGeom prst="rect">
            <a:avLst/>
          </a:prstGeom>
          <a:noFill/>
        </p:spPr>
        <p:txBody>
          <a:bodyPr vert="horz" lIns="25400" tIns="25400" rIns="25400" bIns="25400" rtlCol="0" anchor="t">
            <a:noAutofit/>
          </a:bodyPr>
          <a:lstStyle/>
          <a:p>
            <a:pPr algn="ctr"/>
            <a:r>
              <a:rPr lang="ru-RU" sz="2800" b="1" dirty="0">
                <a:solidFill>
                  <a:srgbClr val="44678C"/>
                </a:solidFill>
                <a:latin typeface="Segoe UI" panose="020B0502040204020203" pitchFamily="34" charset="0"/>
              </a:rPr>
              <a:t>Veda помогает перейти от разрозненных записей к системе знаний.</a:t>
            </a:r>
          </a:p>
        </p:txBody>
      </p:sp>
    </p:spTree>
    <p:extLst>
      <p:ext uri="{BB962C8B-B14F-4D97-AF65-F5344CB8AC3E}">
        <p14:creationId xmlns:p14="http://schemas.microsoft.com/office/powerpoint/2010/main" val="3189425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856</Words>
  <Application>Microsoft Office PowerPoint</Application>
  <PresentationFormat>Широкоэкранный</PresentationFormat>
  <Paragraphs>130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007</dc:creator>
  <cp:lastModifiedBy>007</cp:lastModifiedBy>
  <cp:revision>6</cp:revision>
  <dcterms:created xsi:type="dcterms:W3CDTF">2026-05-24T08:00:33Z</dcterms:created>
  <dcterms:modified xsi:type="dcterms:W3CDTF">2026-05-24T10:53:10Z</dcterms:modified>
</cp:coreProperties>
</file>